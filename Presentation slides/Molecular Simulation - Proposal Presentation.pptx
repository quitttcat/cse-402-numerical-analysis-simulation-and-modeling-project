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7"/>
  </p:notesMasterIdLst>
  <p:sldIdLst>
    <p:sldId id="270" r:id="rId2"/>
    <p:sldId id="268" r:id="rId3"/>
    <p:sldId id="272" r:id="rId4"/>
    <p:sldId id="269" r:id="rId5"/>
    <p:sldId id="271" r:id="rId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0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48:32.7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5:43.9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24575,'3'0'0,"10"0"0,19 0 0,17 0 0,17 0 0,49-6 0,6-5 0,-16 0 0,-19 2 0,-21 1 0,-20 4 0,-14 1 0,-9 2 0,-9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5:44.8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24575,'10'1'0,"1"-1"0,0 2 0,0 0 0,-1 0 0,1 1 0,10 4 0,58 29 0,-69-31 0,28 13 0,-3-1 0,-1 0 0,57 41 0,-88-56 0,0 1 0,0 0 0,1 0 0,-2 0 0,1 0 0,0 0 0,-1 1 0,1-1 0,-1 1 0,0 0 0,3 6 0,-4-7 0,-1 1 0,1-1 0,-1 1 0,1-1 0,-1 0 0,0 1 0,0-1 0,-1 1 0,1-1 0,-1 1 0,0-1 0,0 0 0,0 1 0,-2 3 0,-30 60 84,22-46-808,-17 43-1,22-43-6101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5:46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24575,'6'0'0,"4"6"0,10 1 0,13 1 0,12-3 0,16 0 0,15-3-6784,12 0 6784,9-5 0,4 0 0,4-1 0,-9 0 0,-14 2 0,-15 0 0,-19 1-1407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5:47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24575,'1'0'0,"-1"0"0,1 0 0,0 1 0,0-1 0,0 0 0,-1 0 0,1 1 0,0-1 0,-1 0 0,1 1 0,0-1 0,0 1 0,-1-1 0,1 1 0,0 0 0,5 4 0,73 47 0,170 83 0,-248-134 0,0-1 0,-1 0 0,1 1 0,0-1 0,0 0 0,0 1 0,0-1 0,-1 1 0,1 0 0,0-1 0,0 1 0,-1-1 0,1 1 0,-1 0 0,1 0 0,0-1 0,-1 1 0,1 0 0,-1 0 0,0 0 0,1 0 0,-1 0 0,0 0 0,1-1 0,-1 1 0,0 0 0,0 0 0,0 0 0,0 0 0,0 0 0,0 0 0,0 0 0,0 0 0,0 0 0,-1 1 0,-1 2 0,0 1 0,0-1 0,0 1 0,-1-1 0,-5 7 0,4-6 0,-49 63 1027,-35 31-3827,-68 58-2445,128-129 4072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7:15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7:15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7:15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7:27:15.9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5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a823f830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9a823f830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9a823f830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0747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414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141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94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420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13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918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090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294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5606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551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698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420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005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0713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409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236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7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99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6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hyperlink" Target="https://www.nature.com/articles/ncomms5213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gi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2700"/>
            </a:pPr>
            <a:r>
              <a:rPr lang="en" sz="36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Molecular Simulation on Quantum Computing Systems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40080" y="233172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B8A9"/>
              </a:buClr>
              <a:buSzPts val="1500"/>
            </a:pPr>
            <a:r>
              <a:rPr lang="en" sz="2667" i="1" dirty="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rPr>
              <a:t>CSE 402 : Numerical Analysis, Simulation and Modeling</a:t>
            </a:r>
            <a:endParaRPr sz="2667" dirty="0">
              <a:solidFill>
                <a:schemeClr val="tx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00551" y="3151683"/>
            <a:ext cx="10960400" cy="2314800"/>
          </a:xfrm>
          <a:prstGeom prst="roundRect">
            <a:avLst>
              <a:gd name="adj" fmla="val 4211"/>
            </a:avLst>
          </a:prstGeom>
          <a:solidFill>
            <a:srgbClr val="242A52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60" name="Google Shape;60;p15"/>
          <p:cNvSpPr/>
          <p:nvPr/>
        </p:nvSpPr>
        <p:spPr>
          <a:xfrm>
            <a:off x="975367" y="3429000"/>
            <a:ext cx="10241200" cy="1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100"/>
            </a:pPr>
            <a:r>
              <a:rPr lang="en" sz="2800" u="sng" dirty="0">
                <a:solidFill>
                  <a:srgbClr val="CBD3F0"/>
                </a:solidFill>
                <a:latin typeface="Calibri"/>
                <a:ea typeface="Calibri"/>
                <a:cs typeface="Calibri"/>
                <a:sym typeface="Calibri"/>
              </a:rPr>
              <a:t>Group Members :</a:t>
            </a:r>
            <a:endParaRPr sz="2800" u="sng" dirty="0">
              <a:solidFill>
                <a:srgbClr val="CBD3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lt1"/>
              </a:buClr>
              <a:buSzPts val="1100"/>
            </a:pPr>
            <a:r>
              <a:rPr lang="en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Shahraz Hussain Siyam (2105023)</a:t>
            </a:r>
            <a:r>
              <a:rPr lang="en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Nabiha Tahseen (2105031)     Debashri Roy (210535)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lt1"/>
              </a:buClr>
              <a:buSzPts val="1100"/>
            </a:pPr>
            <a:r>
              <a:rPr lang="en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Niloy Kumar Mondal (2105044)</a:t>
            </a:r>
            <a:r>
              <a:rPr lang="en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Amit Saha (210549)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15813" y="5902353"/>
            <a:ext cx="201200" cy="2012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62" name="Google Shape;62;p15"/>
          <p:cNvSpPr/>
          <p:nvPr/>
        </p:nvSpPr>
        <p:spPr>
          <a:xfrm>
            <a:off x="816981" y="5902353"/>
            <a:ext cx="201200" cy="201200"/>
          </a:xfrm>
          <a:prstGeom prst="ellipse">
            <a:avLst/>
          </a:prstGeom>
          <a:solidFill>
            <a:srgbClr val="00B8A9"/>
          </a:solidFill>
          <a:ln w="12700" cap="flat" cmpd="sng">
            <a:solidFill>
              <a:srgbClr val="1B1F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2400"/>
          </a:p>
        </p:txBody>
      </p:sp>
      <p:sp>
        <p:nvSpPr>
          <p:cNvPr id="63" name="Google Shape;63;p15"/>
          <p:cNvSpPr/>
          <p:nvPr/>
        </p:nvSpPr>
        <p:spPr>
          <a:xfrm>
            <a:off x="1176353" y="5783533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BD3F0"/>
              </a:buClr>
              <a:buSzPts val="1000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000">
                <a:solidFill>
                  <a:srgbClr val="CBD3F0"/>
                </a:solidFill>
                <a:latin typeface="Calibri"/>
                <a:ea typeface="Calibri"/>
                <a:cs typeface="Calibri"/>
                <a:sym typeface="Calibri"/>
              </a:rPr>
              <a:t>Presented By : Niloy Kumar Mondal</a:t>
            </a:r>
            <a:r>
              <a:rPr lang="en" sz="1733">
                <a:solidFill>
                  <a:srgbClr val="CBD3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33">
              <a:solidFill>
                <a:srgbClr val="CBD3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00580" y="5865767"/>
            <a:ext cx="5486400" cy="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BD3F0"/>
              </a:buClr>
              <a:buSzPts val="9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961230-A66D-4BB8-B079-89C45CFC9BAC}"/>
                  </a:ext>
                </a:extLst>
              </p14:cNvPr>
              <p14:cNvContentPartPr/>
              <p14:nvPr/>
            </p14:nvContentPartPr>
            <p14:xfrm>
              <a:off x="9548824" y="2712312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961230-A66D-4BB8-B079-89C45CFC9B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0184" y="270367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3033" y="6167351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Chemical Simulation For Stable Ground State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8687" y="5801591"/>
            <a:ext cx="3428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O-(4-methylbenzyl)hydroxylamine (C₈H₁₁NO)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120" y="1699618"/>
            <a:ext cx="8989963" cy="4056806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ng_breathing_vq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1" y="2001549"/>
            <a:ext cx="8515887" cy="35746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053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08E000-0312-4CC6-99EA-A9F3E73E938A}"/>
              </a:ext>
            </a:extLst>
          </p:cNvPr>
          <p:cNvSpPr/>
          <p:nvPr/>
        </p:nvSpPr>
        <p:spPr>
          <a:xfrm>
            <a:off x="497089" y="377954"/>
            <a:ext cx="2233838" cy="10038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Laboratory Experiments are costly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D99776-A73B-4E29-99CC-2C233F8CF824}"/>
              </a:ext>
            </a:extLst>
          </p:cNvPr>
          <p:cNvSpPr/>
          <p:nvPr/>
        </p:nvSpPr>
        <p:spPr>
          <a:xfrm>
            <a:off x="3412123" y="377954"/>
            <a:ext cx="2135646" cy="108059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So, we simulate</a:t>
            </a:r>
          </a:p>
          <a:p>
            <a:pPr algn="ctr"/>
            <a:r>
              <a:rPr lang="en-US" dirty="0"/>
              <a:t>to analyze interaction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9E7C21-47CB-4F46-BD27-A84E56B09333}"/>
              </a:ext>
            </a:extLst>
          </p:cNvPr>
          <p:cNvSpPr/>
          <p:nvPr/>
        </p:nvSpPr>
        <p:spPr>
          <a:xfrm>
            <a:off x="6644233" y="377953"/>
            <a:ext cx="2518178" cy="1080593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Modeling energy</a:t>
            </a:r>
          </a:p>
          <a:p>
            <a:pPr algn="ctr"/>
            <a:r>
              <a:rPr lang="en-US" dirty="0"/>
              <a:t>With respect to time evolution and</a:t>
            </a:r>
          </a:p>
          <a:p>
            <a:pPr algn="ctr"/>
            <a:r>
              <a:rPr lang="en-US" dirty="0"/>
              <a:t>molecular distance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0523A9-F096-4D9F-8B28-96731F7279A3}"/>
              </a:ext>
            </a:extLst>
          </p:cNvPr>
          <p:cNvGrpSpPr/>
          <p:nvPr/>
        </p:nvGrpSpPr>
        <p:grpSpPr>
          <a:xfrm>
            <a:off x="2829064" y="822312"/>
            <a:ext cx="325800" cy="159120"/>
            <a:chOff x="2829064" y="822312"/>
            <a:chExt cx="32580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51961B-0882-4212-93EB-7761F0F100AB}"/>
                    </a:ext>
                  </a:extLst>
                </p14:cNvPr>
                <p14:cNvContentPartPr/>
                <p14:nvPr/>
              </p14:nvContentPartPr>
              <p14:xfrm>
                <a:off x="2829064" y="895032"/>
                <a:ext cx="276120" cy="1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51961B-0882-4212-93EB-7761F0F100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20064" y="886032"/>
                  <a:ext cx="29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7BC943-DEDB-47F5-8B72-3F9C4C65CB2E}"/>
                    </a:ext>
                  </a:extLst>
                </p14:cNvPr>
                <p14:cNvContentPartPr/>
                <p14:nvPr/>
              </p14:nvContentPartPr>
              <p14:xfrm>
                <a:off x="3006904" y="822312"/>
                <a:ext cx="147960" cy="15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7BC943-DEDB-47F5-8B72-3F9C4C65CB2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98264" y="813312"/>
                  <a:ext cx="16560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37DB29-56AF-4235-83A9-51F40253731A}"/>
              </a:ext>
            </a:extLst>
          </p:cNvPr>
          <p:cNvGrpSpPr/>
          <p:nvPr/>
        </p:nvGrpSpPr>
        <p:grpSpPr>
          <a:xfrm>
            <a:off x="5786824" y="822312"/>
            <a:ext cx="388440" cy="221760"/>
            <a:chOff x="5786824" y="822312"/>
            <a:chExt cx="38844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0B72C0-F37B-4ECF-AD1E-41773D648BED}"/>
                    </a:ext>
                  </a:extLst>
                </p14:cNvPr>
                <p14:cNvContentPartPr/>
                <p14:nvPr/>
              </p14:nvContentPartPr>
              <p14:xfrm>
                <a:off x="5786824" y="901872"/>
                <a:ext cx="336960" cy="1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0B72C0-F37B-4ECF-AD1E-41773D648B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78184" y="893232"/>
                  <a:ext cx="354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71B465-5339-49FE-91D3-351AC3DA0E7E}"/>
                    </a:ext>
                  </a:extLst>
                </p14:cNvPr>
                <p14:cNvContentPartPr/>
                <p14:nvPr/>
              </p14:nvContentPartPr>
              <p14:xfrm>
                <a:off x="6044584" y="822312"/>
                <a:ext cx="130680" cy="22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71B465-5339-49FE-91D3-351AC3DA0E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35944" y="813312"/>
                  <a:ext cx="14832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14:cNvPr>
              <p14:cNvContentPartPr/>
              <p14:nvPr/>
            </p14:nvContentPartPr>
            <p14:xfrm>
              <a:off x="3387424" y="3878352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78424" y="38693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3033" y="6167351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68488" y="6144768"/>
            <a:ext cx="3428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053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14:cNvPr>
              <p14:cNvContentPartPr/>
              <p14:nvPr/>
            </p14:nvContentPartPr>
            <p14:xfrm>
              <a:off x="3387424" y="3878352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8424" y="386935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980BB3C-F0CD-4643-895D-CC257585A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267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5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E43F58-35D9-49A5-84B6-EA383E73E7EF}"/>
              </a:ext>
            </a:extLst>
          </p:cNvPr>
          <p:cNvSpPr/>
          <p:nvPr/>
        </p:nvSpPr>
        <p:spPr>
          <a:xfrm>
            <a:off x="7517717" y="902126"/>
            <a:ext cx="4216059" cy="4559726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023033" y="6167351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Chemical Simulation For Stable Ground State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8687" y="5801591"/>
            <a:ext cx="3428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O-(4-methylbenzyl)hydroxylamine (C₈H₁₁NO)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053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08E000-0312-4CC6-99EA-A9F3E73E938A}"/>
              </a:ext>
            </a:extLst>
          </p:cNvPr>
          <p:cNvSpPr/>
          <p:nvPr/>
        </p:nvSpPr>
        <p:spPr>
          <a:xfrm>
            <a:off x="237528" y="617136"/>
            <a:ext cx="6807648" cy="138393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2"/>
              </a:rPr>
              <a:t>A variational eigenvalue solver on a photonic quantum processor | Nature Communications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14:cNvPr>
              <p14:cNvContentPartPr/>
              <p14:nvPr/>
            </p14:nvContentPartPr>
            <p14:xfrm>
              <a:off x="3387424" y="3878352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8424" y="386935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1862A1D-9FBD-47FA-95F6-DB611C899025}"/>
              </a:ext>
            </a:extLst>
          </p:cNvPr>
          <p:cNvSpPr txBox="1"/>
          <p:nvPr/>
        </p:nvSpPr>
        <p:spPr>
          <a:xfrm>
            <a:off x="7793879" y="1110781"/>
            <a:ext cx="3430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 paper overview :</a:t>
            </a:r>
          </a:p>
          <a:p>
            <a:endParaRPr lang="en-US" dirty="0"/>
          </a:p>
          <a:p>
            <a:r>
              <a:rPr lang="en-US" dirty="0"/>
              <a:t>Simulation on CPU-GPU becomes intractable as the problem size increases. </a:t>
            </a:r>
          </a:p>
          <a:p>
            <a:endParaRPr lang="en-US" dirty="0"/>
          </a:p>
          <a:p>
            <a:r>
              <a:rPr lang="en-US" dirty="0"/>
              <a:t>Scales well theoretically on a quantum processor. </a:t>
            </a:r>
          </a:p>
          <a:p>
            <a:endParaRPr lang="en-US" dirty="0"/>
          </a:p>
          <a:p>
            <a:r>
              <a:rPr lang="en-US" dirty="0"/>
              <a:t>Quantum processor finds the</a:t>
            </a:r>
          </a:p>
          <a:p>
            <a:r>
              <a:rPr lang="en-US" dirty="0"/>
              <a:t>Eigen-value of a matrix which encodes the chemical system. 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8" name="Google Shape;296;p24" descr="/home/claude/h2_vqe_simulation.gif">
            <a:extLst>
              <a:ext uri="{FF2B5EF4-FFF2-40B4-BE49-F238E27FC236}">
                <a16:creationId xmlns:a16="http://schemas.microsoft.com/office/drawing/2014/main" id="{0EC6D703-0D4B-4944-8D08-A384990D6F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687" y="2252811"/>
            <a:ext cx="7018787" cy="3114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517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3033" y="6167351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68488" y="6144768"/>
            <a:ext cx="3428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053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14:cNvPr>
              <p14:cNvContentPartPr/>
              <p14:nvPr/>
            </p14:nvContentPartPr>
            <p14:xfrm>
              <a:off x="3387424" y="3878352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AFDD9DB-24A7-490C-929F-CE84AC21E6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8424" y="386935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ADD3134-168A-4DDC-8EC6-9DC82F2ED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57" y="0"/>
            <a:ext cx="11862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43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162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3</cp:revision>
  <dcterms:created xsi:type="dcterms:W3CDTF">2026-08-17T05:48:18Z</dcterms:created>
  <dcterms:modified xsi:type="dcterms:W3CDTF">2026-08-17T08:03:41Z</dcterms:modified>
</cp:coreProperties>
</file>